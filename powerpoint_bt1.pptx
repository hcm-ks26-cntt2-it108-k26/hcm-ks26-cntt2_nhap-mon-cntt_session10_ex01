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8.61</c:v>
                </c:pt>
                <c:pt idx="2">
                  <c:v>9.35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Phí đối tác &amp; ngân hàng</c:v>
                </c:pt>
                <c:pt idx="1">
                  <c:v>Chi phí vận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0.28</c:v>
                </c:pt>
                <c:pt idx="2">
                  <c:v>0.16</c:v>
                </c:pt>
                <c:pt idx="3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359E"/>
                </a:solidFill>
                <a:latin typeface="Arial"/>
              </a:defRPr>
            </a:pPr>
            <a:r>
              <a:t>Doanh thu thuần tăng mạnh 18,6% giúp lợi nhuận sau thuế bứt phá 31,2% nhờ tối ưu tốt chi phí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C359E"/>
                </a:solidFill>
                <a:latin typeface="Arial"/>
              </a:defRPr>
            </a:pPr>
            <a:r>
              <a:t>DOANH THU THUẦN</a:t>
            </a:r>
          </a:p>
          <a:p>
            <a:pPr algn="ctr">
              <a:defRPr sz="2800" b="1">
                <a:solidFill>
                  <a:srgbClr val="0C359E"/>
                </a:solidFill>
                <a:latin typeface="Arial"/>
              </a:defRPr>
            </a:pPr>
            <a:r>
              <a:t>12,45</a:t>
            </a:r>
          </a:p>
          <a:p>
            <a:pPr algn="ctr">
              <a:defRPr sz="1100">
                <a:solidFill>
                  <a:srgbClr val="0F8140"/>
                </a:solidFill>
                <a:latin typeface="Arial"/>
              </a:defRPr>
            </a:pPr>
            <a:r>
              <a:t>▲ +18,6% vs T4/2024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8140"/>
                </a:solidFill>
                <a:latin typeface="Arial"/>
              </a:defRPr>
            </a:pPr>
            <a:r>
              <a:t>TỔNG CHI PHÍ</a:t>
            </a:r>
          </a:p>
          <a:p>
            <a:pPr algn="ctr">
              <a:defRPr sz="2800" b="1">
                <a:solidFill>
                  <a:srgbClr val="0C359E"/>
                </a:solidFill>
                <a:latin typeface="Arial"/>
              </a:defRPr>
            </a:pPr>
            <a:r>
              <a:t>7,28</a:t>
            </a:r>
          </a:p>
          <a:p>
            <a:pPr algn="ctr">
              <a:defRPr sz="1100">
                <a:solidFill>
                  <a:srgbClr val="0F8140"/>
                </a:solidFill>
                <a:latin typeface="Arial"/>
              </a:defRPr>
            </a:pPr>
            <a:r>
              <a:t>▲ +12,1% vs T4/2024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6339B"/>
                </a:solidFill>
                <a:latin typeface="Arial"/>
              </a:defRPr>
            </a:pPr>
            <a:r>
              <a:t>LỢI NHUẬN GỘP</a:t>
            </a:r>
          </a:p>
          <a:p>
            <a:pPr algn="ctr">
              <a:defRPr sz="2800" b="1">
                <a:solidFill>
                  <a:srgbClr val="0C359E"/>
                </a:solidFill>
                <a:latin typeface="Arial"/>
              </a:defRPr>
            </a:pPr>
            <a:r>
              <a:t>5,17</a:t>
            </a:r>
          </a:p>
          <a:p>
            <a:pPr algn="ctr">
              <a:defRPr sz="1100">
                <a:solidFill>
                  <a:srgbClr val="0F8140"/>
                </a:solidFill>
                <a:latin typeface="Arial"/>
              </a:defRPr>
            </a:pPr>
            <a:r>
              <a:t>▲ +27,4% vs T4/2024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Arial"/>
              </a:defRPr>
            </a:pPr>
            <a:r>
              <a:t>LỢI NHUẬN SAU THUẾ</a:t>
            </a:r>
          </a:p>
          <a:p>
            <a:pPr algn="ctr">
              <a:defRPr sz="2800" b="1">
                <a:solidFill>
                  <a:srgbClr val="0C359E"/>
                </a:solidFill>
                <a:latin typeface="Arial"/>
              </a:defRPr>
            </a:pPr>
            <a:r>
              <a:t>2,89</a:t>
            </a:r>
          </a:p>
          <a:p>
            <a:pPr algn="ctr">
              <a:defRPr sz="1100">
                <a:solidFill>
                  <a:srgbClr val="0F8140"/>
                </a:solidFill>
                <a:latin typeface="Arial"/>
              </a:defRPr>
            </a:pPr>
            <a:r>
              <a:t>▲ +31,2% vs T4/2024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3566160"/>
          <a:ext cx="530352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17920" y="3566160"/>
          <a:ext cx="54864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Tăng trưởng doanh thu mạnh – Tối ưu chi phí – Lợi nhuận bứt phá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